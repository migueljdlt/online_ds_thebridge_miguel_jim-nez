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8" r:id="rId7"/>
    <p:sldId id="263" r:id="rId8"/>
    <p:sldId id="269" r:id="rId9"/>
    <p:sldId id="264" r:id="rId10"/>
    <p:sldId id="267" r:id="rId11"/>
    <p:sldId id="270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 showGuides="1">
      <p:cViewPr varScale="1">
        <p:scale>
          <a:sx n="54" d="100"/>
          <a:sy n="54" d="100"/>
        </p:scale>
        <p:origin x="77" y="8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D486-E996-2F61-4E12-B16012E37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B8E62F-E830-E726-6912-C895D11C0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D275E1-3574-9592-8550-C5B642DA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EFA2FC-A5B7-5286-8C73-BBA3087B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BAB9BE-DF7B-3110-14C9-09DAFE7D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3334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08A82-4191-02A3-9B61-6693DF6F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1BBECE-A4BD-9B39-60BB-DA02368E0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5B3D11-6220-800B-2B71-0A31FF8D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A7578A-1964-1A35-1531-F521ECE8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6B9D40-EC40-6B88-B09D-FC65236C5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79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B4FA5-0B92-CFFF-F2B6-D8585F3E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5FBBC7-9DD8-F1C8-73F5-D2BC17A2B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55CF54-5FD9-2D94-8386-116B34D6E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A44B2D-8AA9-C227-9D3E-1D826868F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544593-8EAF-6B6B-3403-FE747B35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777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33D64-E87E-C265-DECD-2B63CD68D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DF1104-E566-B4C0-E5BC-13A4943B7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9B22FF-7427-17F9-A933-BA3AC1DC1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E1226C-5A28-3FBC-70AA-DEA9C85D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8985C6-0325-1E5B-1079-FB2E3580E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5C0E7B-F742-E6C5-F3B4-1C4AD889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6601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04FD4-E831-23D8-8DD7-AF905B94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EF7573-640D-9809-E8EE-751338948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700217-9915-A026-2C64-CD1C5FB81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C88576E-79D8-DCA6-A785-D928C7B0A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7577E5-F0DB-1D91-8E69-D8AFE7EA08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A7FDED-C56C-CF59-AA91-E2068A94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63565AE-AB3E-51EE-CA2C-EDAB417B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902572B-ABBB-295B-54B8-CC302CF7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618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305AA-A227-13E6-26B0-98FBD98A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34B676-1238-43C9-8C05-E7D6BCC17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2761C0-3D13-F787-82B8-B7CCF4E9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1BC788-B130-77F8-8BCC-249A65A1D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953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E269660-634D-FA9F-D0E8-06ADC25C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2FC98C-548A-4B84-09C4-E2BE4099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16F727-7C8D-618D-E11E-B0F6B404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735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034F1-804E-8F73-97FD-3EE0E8C7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06F4FE-AA71-D6AC-DB6E-EF82EB3FC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20DE9A-FC57-AB3E-F230-016234CAD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B22030-B7F4-6A43-A0B3-C476C2A2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9DD19C-5F6B-6369-76E8-8D926910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C1551A-7FB4-2394-0EBA-138190EB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24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C84E1-49FA-97C3-C3F4-F9DADC2FB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CAE98E-1CBF-171F-8C67-680F532A4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86B6BD-179C-98F2-0871-4AD5C6229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E9DEEB-E3BA-648C-25DD-A758D988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CB22BB-6C05-A828-9240-E570A907D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479FFD-0B7A-A594-BCEB-E121A456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3588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0DE74-BF3C-09F1-2606-B4798C87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5C17FE-2D53-E55E-E2A9-31A0BD71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AE7779-2588-05E0-35D7-08041A56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B0291A-BB07-8A51-615D-9713F9BC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4800CD-DDC5-FD1D-1FDF-CE97EA88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5290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095981-BD5F-7FE7-F467-5F2ED1E2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0D277D-5C7E-1236-05C6-830375244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2313F8-B477-C0CF-D46E-88F01F32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B3DC17-33D8-41FD-C860-4BCA6067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24C45-B884-20CE-13D3-35B93070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446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B38933-A319-F02D-1259-AB3CE9250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5F852D-07C2-E9DB-BA38-2511B2060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8C7C06-C6A7-A234-C8B8-83C613E1A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C5CBA-1249-4E5A-AFEA-DAF7C4FBCB52}" type="datetimeFigureOut">
              <a:rPr lang="es-ES" smtClean="0"/>
              <a:t>24/11/2025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2B6D12-6CF1-AFD7-9F58-CD03E0DC66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A46182-0590-62CF-6B6B-4AC8BCB77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DD409-D8B9-4A72-81C5-047AD5BBB1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186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AC93B-AF39-0538-BD35-3269DB2E0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55" y="432524"/>
            <a:ext cx="7412512" cy="582613"/>
          </a:xfrm>
        </p:spPr>
        <p:txBody>
          <a:bodyPr>
            <a:normAutofit fontScale="90000"/>
          </a:bodyPr>
          <a:lstStyle/>
          <a:p>
            <a:r>
              <a:rPr lang="es-ES" i="1" dirty="0">
                <a:solidFill>
                  <a:schemeClr val="bg1"/>
                </a:solidFill>
                <a:latin typeface="Oswald" pitchFamily="2" charset="0"/>
              </a:rPr>
              <a:t> </a:t>
            </a:r>
            <a:r>
              <a:rPr lang="es-ES" sz="6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swald" pitchFamily="2" charset="0"/>
              </a:rPr>
              <a:t>Movie</a:t>
            </a:r>
            <a:r>
              <a:rPr lang="es-ES" sz="6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swald" pitchFamily="2" charset="0"/>
              </a:rPr>
              <a:t> </a:t>
            </a:r>
            <a:r>
              <a:rPr lang="es-ES" sz="6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swald" pitchFamily="2" charset="0"/>
              </a:rPr>
              <a:t>Revenue</a:t>
            </a:r>
            <a:r>
              <a:rPr lang="es-ES" sz="6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swald" pitchFamily="2" charset="0"/>
              </a:rPr>
              <a:t> Predictor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BD200A-6129-E994-FD8F-770F2AE92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9271" y="3028951"/>
            <a:ext cx="8135130" cy="582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3200" b="1" i="1" dirty="0">
                <a:solidFill>
                  <a:schemeClr val="bg1"/>
                </a:solidFill>
                <a:latin typeface="Oswald" pitchFamily="2" charset="0"/>
              </a:rPr>
              <a:t>"Análisis predictivo del rendimiento comercial cinematográfico. Un enfoque basado en datos"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1731D5-C3A0-14E2-BA64-B2FDFA2D219D}"/>
              </a:ext>
            </a:extLst>
          </p:cNvPr>
          <p:cNvSpPr txBox="1"/>
          <p:nvPr/>
        </p:nvSpPr>
        <p:spPr>
          <a:xfrm>
            <a:off x="8382000" y="5359401"/>
            <a:ext cx="2810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1" dirty="0">
                <a:solidFill>
                  <a:schemeClr val="bg1"/>
                </a:solidFill>
                <a:latin typeface="Oswald" pitchFamily="2" charset="0"/>
              </a:rPr>
              <a:t>Miguel Jiménez , </a:t>
            </a:r>
            <a:r>
              <a:rPr lang="es-ES" b="1" i="1" dirty="0" err="1">
                <a:solidFill>
                  <a:schemeClr val="bg1"/>
                </a:solidFill>
                <a:latin typeface="Oswald" pitchFamily="2" charset="0"/>
              </a:rPr>
              <a:t>TheBridge</a:t>
            </a:r>
            <a:endParaRPr lang="es-ES" b="1" i="1" dirty="0">
              <a:solidFill>
                <a:schemeClr val="bg1"/>
              </a:solidFill>
              <a:latin typeface="Oswald" pitchFamily="2" charset="0"/>
            </a:endParaRPr>
          </a:p>
          <a:p>
            <a:endParaRPr lang="es-ES" dirty="0">
              <a:solidFill>
                <a:schemeClr val="bg1"/>
              </a:solidFill>
              <a:latin typeface="Oswa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28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69B1388-D747-6C80-FCCF-C91C7A9CF61A}"/>
              </a:ext>
            </a:extLst>
          </p:cNvPr>
          <p:cNvSpPr txBox="1"/>
          <p:nvPr/>
        </p:nvSpPr>
        <p:spPr>
          <a:xfrm>
            <a:off x="956509" y="969656"/>
            <a:ext cx="102789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i="1" dirty="0">
                <a:solidFill>
                  <a:schemeClr val="bg1"/>
                </a:solidFill>
                <a:latin typeface="Oswald" pitchFamily="2" charset="0"/>
              </a:rPr>
              <a:t>En la última década, la competencia con las plataformas de </a:t>
            </a:r>
            <a:r>
              <a:rPr lang="es-ES" sz="2800" b="1" i="1" dirty="0" err="1">
                <a:solidFill>
                  <a:schemeClr val="bg1"/>
                </a:solidFill>
                <a:latin typeface="Oswald" pitchFamily="2" charset="0"/>
              </a:rPr>
              <a:t>streaming</a:t>
            </a:r>
            <a:r>
              <a:rPr lang="es-ES" sz="2800" b="1" i="1" dirty="0">
                <a:solidFill>
                  <a:schemeClr val="bg1"/>
                </a:solidFill>
                <a:latin typeface="Oswald" pitchFamily="2" charset="0"/>
              </a:rPr>
              <a:t> ha transformado el comportamiento de las audiencias en salas.</a:t>
            </a:r>
          </a:p>
          <a:p>
            <a:endParaRPr lang="es-ES" sz="2800" b="1" i="1" dirty="0">
              <a:solidFill>
                <a:schemeClr val="bg1"/>
              </a:solidFill>
              <a:latin typeface="Oswald" pitchFamily="2" charset="0"/>
            </a:endParaRPr>
          </a:p>
          <a:p>
            <a:r>
              <a:rPr lang="es-ES" sz="2400" b="1" i="1" dirty="0">
                <a:solidFill>
                  <a:schemeClr val="bg1"/>
                </a:solidFill>
                <a:latin typeface="Oswald" pitchFamily="2" charset="0"/>
              </a:rPr>
              <a:t>¿Por qué Hollywood pierde millones en películas que fracasan?</a:t>
            </a:r>
          </a:p>
          <a:p>
            <a:endParaRPr lang="es-ES" sz="2400" b="1" i="1" dirty="0">
              <a:solidFill>
                <a:schemeClr val="bg1"/>
              </a:solidFill>
              <a:latin typeface="Oswald" pitchFamily="2" charset="0"/>
            </a:endParaRPr>
          </a:p>
          <a:p>
            <a:r>
              <a:rPr lang="es-ES" sz="2400" i="1" dirty="0">
                <a:solidFill>
                  <a:schemeClr val="bg1"/>
                </a:solidFill>
                <a:latin typeface="Oswald" pitchFamily="2" charset="0"/>
              </a:rPr>
              <a:t>73% de las películas no recuperan su inversión inicial.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3B30E97-3688-947A-89D1-C398A91D4503}"/>
              </a:ext>
            </a:extLst>
          </p:cNvPr>
          <p:cNvSpPr txBox="1"/>
          <p:nvPr/>
        </p:nvSpPr>
        <p:spPr>
          <a:xfrm>
            <a:off x="956509" y="4303010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1" dirty="0">
                <a:solidFill>
                  <a:schemeClr val="bg1"/>
                </a:solidFill>
                <a:latin typeface="Oswald" pitchFamily="2" charset="0"/>
              </a:rPr>
              <a:t>Hemos elaborado un modelo predictivo usando Machine </a:t>
            </a:r>
            <a:r>
              <a:rPr lang="es-ES" b="1" i="1" dirty="0" err="1">
                <a:solidFill>
                  <a:schemeClr val="bg1"/>
                </a:solidFill>
                <a:latin typeface="Oswald" pitchFamily="2" charset="0"/>
              </a:rPr>
              <a:t>Learning</a:t>
            </a:r>
            <a:r>
              <a:rPr lang="es-ES" b="1" i="1" dirty="0">
                <a:solidFill>
                  <a:schemeClr val="bg1"/>
                </a:solidFill>
                <a:latin typeface="Oswald" pitchFamily="2" charset="0"/>
              </a:rPr>
              <a:t>  con el objetivo de que los estudios puedan predecir el éxito antes de la inversión.</a:t>
            </a:r>
          </a:p>
          <a:p>
            <a:r>
              <a:rPr lang="es-ES" b="1" i="1" dirty="0">
                <a:solidFill>
                  <a:schemeClr val="bg1"/>
                </a:solidFill>
                <a:latin typeface="Oswald" pitchFamily="2" charset="0"/>
              </a:rPr>
              <a:t>Es un modelo mixto. Clasificación y regresión .</a:t>
            </a:r>
          </a:p>
          <a:p>
            <a:endParaRPr lang="es-ES" b="1" dirty="0">
              <a:solidFill>
                <a:schemeClr val="bg1"/>
              </a:solidFill>
              <a:latin typeface="Oswald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4F336EC-17E8-314E-31EC-485B55F41AFA}"/>
              </a:ext>
            </a:extLst>
          </p:cNvPr>
          <p:cNvSpPr txBox="1"/>
          <p:nvPr/>
        </p:nvSpPr>
        <p:spPr>
          <a:xfrm>
            <a:off x="3843866" y="5626734"/>
            <a:ext cx="5317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>
                <a:solidFill>
                  <a:schemeClr val="bg1"/>
                </a:solidFill>
                <a:latin typeface="Oswald" pitchFamily="2" charset="0"/>
              </a:rPr>
              <a:t>Movie</a:t>
            </a:r>
            <a:r>
              <a:rPr lang="es-ES" sz="2800" b="1" dirty="0">
                <a:solidFill>
                  <a:schemeClr val="bg1"/>
                </a:solidFill>
                <a:latin typeface="Oswald" pitchFamily="2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Oswald" pitchFamily="2" charset="0"/>
              </a:rPr>
              <a:t>Revenue</a:t>
            </a:r>
            <a:r>
              <a:rPr lang="es-ES" sz="2800" b="1" dirty="0">
                <a:solidFill>
                  <a:schemeClr val="bg1"/>
                </a:solidFill>
                <a:latin typeface="Oswald" pitchFamily="2" charset="0"/>
              </a:rPr>
              <a:t> Predictor</a:t>
            </a:r>
          </a:p>
        </p:txBody>
      </p:sp>
    </p:spTree>
    <p:extLst>
      <p:ext uri="{BB962C8B-B14F-4D97-AF65-F5344CB8AC3E}">
        <p14:creationId xmlns:p14="http://schemas.microsoft.com/office/powerpoint/2010/main" val="191138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B6AA2CD-E83E-6117-031B-76A2302F4C1C}"/>
              </a:ext>
            </a:extLst>
          </p:cNvPr>
          <p:cNvSpPr txBox="1"/>
          <p:nvPr/>
        </p:nvSpPr>
        <p:spPr>
          <a:xfrm>
            <a:off x="858252" y="1111071"/>
            <a:ext cx="10475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1" dirty="0">
                <a:solidFill>
                  <a:schemeClr val="bg1"/>
                </a:solidFill>
                <a:latin typeface="Oswald" pitchFamily="2" charset="0"/>
              </a:rPr>
              <a:t>Contamos con una base de datos procedente de TMDB  (</a:t>
            </a:r>
            <a:r>
              <a:rPr lang="es-ES" sz="2400" b="1" i="1" dirty="0" err="1">
                <a:solidFill>
                  <a:schemeClr val="bg1"/>
                </a:solidFill>
                <a:latin typeface="Oswald" pitchFamily="2" charset="0"/>
              </a:rPr>
              <a:t>The</a:t>
            </a:r>
            <a:r>
              <a:rPr lang="es-ES" sz="2400" b="1" i="1" dirty="0">
                <a:solidFill>
                  <a:schemeClr val="bg1"/>
                </a:solidFill>
                <a:latin typeface="Oswald" pitchFamily="2" charset="0"/>
              </a:rPr>
              <a:t> </a:t>
            </a:r>
            <a:r>
              <a:rPr lang="es-ES" sz="2400" b="1" i="1" dirty="0" err="1">
                <a:solidFill>
                  <a:schemeClr val="bg1"/>
                </a:solidFill>
                <a:latin typeface="Oswald" pitchFamily="2" charset="0"/>
              </a:rPr>
              <a:t>Movie</a:t>
            </a:r>
            <a:r>
              <a:rPr lang="es-ES" sz="2400" b="1" i="1" dirty="0">
                <a:solidFill>
                  <a:schemeClr val="bg1"/>
                </a:solidFill>
                <a:latin typeface="Oswald" pitchFamily="2" charset="0"/>
              </a:rPr>
              <a:t> </a:t>
            </a:r>
            <a:r>
              <a:rPr lang="es-ES" sz="2400" b="1" i="1" dirty="0" err="1">
                <a:solidFill>
                  <a:schemeClr val="bg1"/>
                </a:solidFill>
                <a:latin typeface="Oswald" pitchFamily="2" charset="0"/>
              </a:rPr>
              <a:t>DataBase</a:t>
            </a:r>
            <a:r>
              <a:rPr lang="es-ES" sz="2400" b="1" i="1" dirty="0">
                <a:solidFill>
                  <a:schemeClr val="bg1"/>
                </a:solidFill>
                <a:latin typeface="Oswald" pitchFamily="2" charset="0"/>
              </a:rPr>
              <a:t>) , una de las principales plataformas de datos cinematográficos en línea del planeta.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0ED166-3C7A-D53A-DEA5-AA8BD1407D9A}"/>
              </a:ext>
            </a:extLst>
          </p:cNvPr>
          <p:cNvSpPr txBox="1"/>
          <p:nvPr/>
        </p:nvSpPr>
        <p:spPr>
          <a:xfrm>
            <a:off x="858252" y="2274838"/>
            <a:ext cx="1052362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300" b="1" i="1" dirty="0">
                <a:solidFill>
                  <a:schemeClr val="bg1"/>
                </a:solidFill>
                <a:latin typeface="Oswald" pitchFamily="2" charset="0"/>
              </a:rPr>
              <a:t>Esto nos proporciona la mayor fiabilidad posible: tenemos datos sobre las variables que más impactan en el mercado cinematográfico (</a:t>
            </a:r>
            <a:r>
              <a:rPr lang="es-ES" sz="2300" b="1" i="1" dirty="0" err="1">
                <a:solidFill>
                  <a:schemeClr val="bg1"/>
                </a:solidFill>
                <a:latin typeface="Oswald" pitchFamily="2" charset="0"/>
              </a:rPr>
              <a:t>revenue</a:t>
            </a:r>
            <a:r>
              <a:rPr lang="es-ES" sz="2300" b="1" i="1" dirty="0">
                <a:solidFill>
                  <a:schemeClr val="bg1"/>
                </a:solidFill>
                <a:latin typeface="Oswald" pitchFamily="2" charset="0"/>
              </a:rPr>
              <a:t>, </a:t>
            </a:r>
            <a:r>
              <a:rPr lang="es-ES" sz="2300" b="1" i="1" dirty="0" err="1">
                <a:solidFill>
                  <a:schemeClr val="bg1"/>
                </a:solidFill>
                <a:latin typeface="Oswald" pitchFamily="2" charset="0"/>
              </a:rPr>
              <a:t>budget</a:t>
            </a:r>
            <a:r>
              <a:rPr lang="es-ES" sz="2300" b="1" i="1" dirty="0">
                <a:solidFill>
                  <a:schemeClr val="bg1"/>
                </a:solidFill>
                <a:latin typeface="Oswald" pitchFamily="2" charset="0"/>
              </a:rPr>
              <a:t>, </a:t>
            </a:r>
            <a:r>
              <a:rPr lang="es-ES" sz="2300" b="1" i="1" dirty="0" err="1">
                <a:solidFill>
                  <a:schemeClr val="bg1"/>
                </a:solidFill>
                <a:latin typeface="Oswald" pitchFamily="2" charset="0"/>
              </a:rPr>
              <a:t>popularity</a:t>
            </a:r>
            <a:r>
              <a:rPr lang="es-ES" sz="2300" b="1" i="1" dirty="0">
                <a:solidFill>
                  <a:schemeClr val="bg1"/>
                </a:solidFill>
                <a:latin typeface="Oswald" pitchFamily="2" charset="0"/>
              </a:rPr>
              <a:t>, actores, géneros, productoras).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C343EC-DB39-183A-48E0-1F28149E0671}"/>
              </a:ext>
            </a:extLst>
          </p:cNvPr>
          <p:cNvSpPr txBox="1"/>
          <p:nvPr/>
        </p:nvSpPr>
        <p:spPr>
          <a:xfrm>
            <a:off x="858252" y="3855008"/>
            <a:ext cx="10218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Dataset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de 3000  películas desde el 2015.</a:t>
            </a:r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D8BF90AD-032F-0002-2A43-411911AF1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329" y="4255118"/>
            <a:ext cx="1971676" cy="134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9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7C1EA63-8CC4-3D53-AF94-7C9ECD19ED50}"/>
              </a:ext>
            </a:extLst>
          </p:cNvPr>
          <p:cNvSpPr txBox="1"/>
          <p:nvPr/>
        </p:nvSpPr>
        <p:spPr>
          <a:xfrm>
            <a:off x="1363133" y="924204"/>
            <a:ext cx="10202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Tras el análisis  exploratorio  y preprocesamiento de datos: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2C4D6C6-C290-0118-D946-E64AC5421C2B}"/>
              </a:ext>
            </a:extLst>
          </p:cNvPr>
          <p:cNvSpPr txBox="1"/>
          <p:nvPr/>
        </p:nvSpPr>
        <p:spPr>
          <a:xfrm>
            <a:off x="1363133" y="1906081"/>
            <a:ext cx="9496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Movie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</a:t>
            </a:r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Revenue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Predictor es capaz de  </a:t>
            </a:r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diferienciar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entre los estrenos que deben ir  directamente a  plataforma y las películas cuyo paso por las salas de cine será altamente rentable.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E14EAE9-1917-8803-4463-E0CD588360F6}"/>
              </a:ext>
            </a:extLst>
          </p:cNvPr>
          <p:cNvSpPr txBox="1"/>
          <p:nvPr/>
        </p:nvSpPr>
        <p:spPr>
          <a:xfrm>
            <a:off x="1363133" y="2979376"/>
            <a:ext cx="949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Para ello utilizamos un modelo clasificatorio basado en </a:t>
            </a:r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Random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Forest que determine si el estreno es para plataformas 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807331-6991-6A47-89ED-3411C9080C05}"/>
              </a:ext>
            </a:extLst>
          </p:cNvPr>
          <p:cNvSpPr txBox="1"/>
          <p:nvPr/>
        </p:nvSpPr>
        <p:spPr>
          <a:xfrm>
            <a:off x="1363133" y="4109765"/>
            <a:ext cx="9496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Una vez  identificadas las películas con potencial económico, utilizaremos un modelo de regresión para predecir su taquilla, basado en un </a:t>
            </a:r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Esemble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de </a:t>
            </a:r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Random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Forest  (30%) y </a:t>
            </a:r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XGBoost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(70%).</a:t>
            </a:r>
          </a:p>
        </p:txBody>
      </p:sp>
    </p:spTree>
    <p:extLst>
      <p:ext uri="{BB962C8B-B14F-4D97-AF65-F5344CB8AC3E}">
        <p14:creationId xmlns:p14="http://schemas.microsoft.com/office/powerpoint/2010/main" val="53447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52A5248-98BA-D6AC-2CD9-ED9D361553D8}"/>
              </a:ext>
            </a:extLst>
          </p:cNvPr>
          <p:cNvSpPr txBox="1"/>
          <p:nvPr/>
        </p:nvSpPr>
        <p:spPr>
          <a:xfrm>
            <a:off x="753979" y="630099"/>
            <a:ext cx="10282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i="1" dirty="0" err="1">
                <a:solidFill>
                  <a:schemeClr val="bg1"/>
                </a:solidFill>
                <a:latin typeface="Oswald" pitchFamily="2" charset="0"/>
              </a:rPr>
              <a:t>Random</a:t>
            </a:r>
            <a:r>
              <a:rPr lang="es-ES" sz="3600" b="1" i="1" dirty="0">
                <a:solidFill>
                  <a:schemeClr val="bg1"/>
                </a:solidFill>
                <a:latin typeface="Oswald" pitchFamily="2" charset="0"/>
              </a:rPr>
              <a:t> Forest </a:t>
            </a:r>
            <a:r>
              <a:rPr lang="es-ES" sz="3600" b="1" i="1" dirty="0" err="1">
                <a:solidFill>
                  <a:schemeClr val="bg1"/>
                </a:solidFill>
                <a:latin typeface="Oswald" pitchFamily="2" charset="0"/>
              </a:rPr>
              <a:t>Classifier</a:t>
            </a:r>
            <a:endParaRPr lang="es-ES" sz="3600" b="1" i="1" dirty="0">
              <a:solidFill>
                <a:schemeClr val="bg1"/>
              </a:solidFill>
              <a:latin typeface="Oswald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B1E49F-E048-063B-301A-564F0D2CDE93}"/>
              </a:ext>
            </a:extLst>
          </p:cNvPr>
          <p:cNvSpPr txBox="1"/>
          <p:nvPr/>
        </p:nvSpPr>
        <p:spPr>
          <a:xfrm>
            <a:off x="753978" y="1824567"/>
            <a:ext cx="10282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En la industria cinematográfica lo más conveniente sería apostar por la métrica ROC-AUC: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4BCE11-8CFD-93B9-65E6-2B75E1B81BBD}"/>
              </a:ext>
            </a:extLst>
          </p:cNvPr>
          <p:cNvSpPr txBox="1"/>
          <p:nvPr/>
        </p:nvSpPr>
        <p:spPr>
          <a:xfrm>
            <a:off x="753978" y="3873508"/>
            <a:ext cx="93187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Desbalance de clases: Nuestra base de datos tiene distribución desigual entre categorías (39% plataformas, 61% cines).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E49EAD-D713-5F66-C576-B2DD73A5480C}"/>
              </a:ext>
            </a:extLst>
          </p:cNvPr>
          <p:cNvSpPr txBox="1"/>
          <p:nvPr/>
        </p:nvSpPr>
        <p:spPr>
          <a:xfrm>
            <a:off x="753978" y="4766060"/>
            <a:ext cx="9475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Métrica estándar para comparación entre modelos de clasificación binaria: con un altísimo resultado del 88% en nuestro modelo.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311C156-4AAD-74A2-9182-E109E2869FAC}"/>
              </a:ext>
            </a:extLst>
          </p:cNvPr>
          <p:cNvSpPr txBox="1"/>
          <p:nvPr/>
        </p:nvSpPr>
        <p:spPr>
          <a:xfrm>
            <a:off x="753978" y="2357157"/>
            <a:ext cx="1017595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Permite al negocio tomar diferentes estrategias según perfil de riesgo.</a:t>
            </a:r>
          </a:p>
          <a:p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Pueden ajustar el umbral según el contexto: un umbral alto prioriza la </a:t>
            </a:r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Precision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(solo estrenamos cuando estamos muy seguros), mientras que un umbral bajo prioriza el </a:t>
            </a:r>
            <a:r>
              <a:rPr lang="es-ES" sz="2000" b="1" i="1" dirty="0" err="1">
                <a:solidFill>
                  <a:schemeClr val="bg1"/>
                </a:solidFill>
                <a:latin typeface="Oswald" pitchFamily="2" charset="0"/>
              </a:rPr>
              <a:t>Recall</a:t>
            </a: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 (capturamos más oportunidades asumiendo más riesgo).</a:t>
            </a:r>
          </a:p>
          <a:p>
            <a:endParaRPr lang="es-ES" b="1" i="1" dirty="0">
              <a:solidFill>
                <a:schemeClr val="bg1"/>
              </a:solidFill>
              <a:latin typeface="Oswa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428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950A1-3A2D-9853-229F-5A70AB28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5F65628-81A8-5536-7A8B-AD6F75D94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653" y="821781"/>
            <a:ext cx="8646694" cy="5214437"/>
          </a:xfrm>
        </p:spPr>
      </p:pic>
    </p:spTree>
    <p:extLst>
      <p:ext uri="{BB962C8B-B14F-4D97-AF65-F5344CB8AC3E}">
        <p14:creationId xmlns:p14="http://schemas.microsoft.com/office/powerpoint/2010/main" val="296122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A5D6604-6493-6599-0CCF-E0F60C5FE96A}"/>
              </a:ext>
            </a:extLst>
          </p:cNvPr>
          <p:cNvSpPr txBox="1"/>
          <p:nvPr/>
        </p:nvSpPr>
        <p:spPr>
          <a:xfrm>
            <a:off x="902490" y="991486"/>
            <a:ext cx="10387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i="1" dirty="0">
                <a:solidFill>
                  <a:schemeClr val="bg1"/>
                </a:solidFill>
                <a:latin typeface="Oswald" pitchFamily="2" charset="0"/>
              </a:rPr>
              <a:t>Ensemble (</a:t>
            </a:r>
            <a:r>
              <a:rPr lang="es-ES" sz="3200" b="1" i="1" dirty="0" err="1">
                <a:solidFill>
                  <a:schemeClr val="bg1"/>
                </a:solidFill>
                <a:latin typeface="Oswald" pitchFamily="2" charset="0"/>
              </a:rPr>
              <a:t>Random</a:t>
            </a:r>
            <a:r>
              <a:rPr lang="es-ES" sz="3200" b="1" i="1" dirty="0">
                <a:solidFill>
                  <a:schemeClr val="bg1"/>
                </a:solidFill>
                <a:latin typeface="Oswald" pitchFamily="2" charset="0"/>
              </a:rPr>
              <a:t> Forest 30% y </a:t>
            </a:r>
            <a:r>
              <a:rPr lang="es-ES" sz="3200" b="1" i="1" dirty="0" err="1">
                <a:solidFill>
                  <a:schemeClr val="bg1"/>
                </a:solidFill>
                <a:latin typeface="Oswald" pitchFamily="2" charset="0"/>
              </a:rPr>
              <a:t>XGBoost</a:t>
            </a:r>
            <a:r>
              <a:rPr lang="es-ES" sz="3200" b="1" i="1" dirty="0">
                <a:solidFill>
                  <a:schemeClr val="bg1"/>
                </a:solidFill>
                <a:latin typeface="Oswald" pitchFamily="2" charset="0"/>
              </a:rPr>
              <a:t> 70%)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87F157-4232-49E5-00FA-A05EC6546257}"/>
              </a:ext>
            </a:extLst>
          </p:cNvPr>
          <p:cNvSpPr txBox="1"/>
          <p:nvPr/>
        </p:nvSpPr>
        <p:spPr>
          <a:xfrm>
            <a:off x="902490" y="1972572"/>
            <a:ext cx="9658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1" dirty="0">
                <a:solidFill>
                  <a:schemeClr val="bg1"/>
                </a:solidFill>
                <a:latin typeface="Oswald" pitchFamily="2" charset="0"/>
              </a:rPr>
              <a:t>En este modelo priorizamos la  métrica R² debido a la volatilidad del sector.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4C0BAC0-48BF-1282-2187-CB5545DE72B6}"/>
              </a:ext>
            </a:extLst>
          </p:cNvPr>
          <p:cNvSpPr txBox="1"/>
          <p:nvPr/>
        </p:nvSpPr>
        <p:spPr>
          <a:xfrm>
            <a:off x="902491" y="2598003"/>
            <a:ext cx="10387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1" dirty="0">
                <a:solidFill>
                  <a:schemeClr val="bg1"/>
                </a:solidFill>
                <a:latin typeface="Oswald" pitchFamily="2" charset="0"/>
              </a:rPr>
              <a:t>En este mercado,  las campañas publicitarias, marketing,  timing de estrenos, situación sociopolítica y un sinfín de variables diferentes  marcan el devenir de un estreno.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4FAB821-3B70-25CC-E4D2-9CD481B227C7}"/>
              </a:ext>
            </a:extLst>
          </p:cNvPr>
          <p:cNvSpPr txBox="1"/>
          <p:nvPr/>
        </p:nvSpPr>
        <p:spPr>
          <a:xfrm>
            <a:off x="902492" y="3956947"/>
            <a:ext cx="10387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1" dirty="0">
                <a:solidFill>
                  <a:schemeClr val="bg1"/>
                </a:solidFill>
                <a:latin typeface="Oswald" pitchFamily="2" charset="0"/>
              </a:rPr>
              <a:t>Con </a:t>
            </a:r>
            <a:r>
              <a:rPr lang="es-ES" sz="2400" b="1" i="1" dirty="0" err="1">
                <a:solidFill>
                  <a:schemeClr val="bg1"/>
                </a:solidFill>
                <a:latin typeface="Oswald" pitchFamily="2" charset="0"/>
              </a:rPr>
              <a:t>estra</a:t>
            </a:r>
            <a:r>
              <a:rPr lang="es-ES" sz="2400" b="1" i="1" dirty="0">
                <a:solidFill>
                  <a:schemeClr val="bg1"/>
                </a:solidFill>
                <a:latin typeface="Oswald" pitchFamily="2" charset="0"/>
              </a:rPr>
              <a:t> métrica somos capaces de predecir un alto porcentaje de la variabilidad, nuestro modelo logra un 75% .</a:t>
            </a:r>
          </a:p>
        </p:txBody>
      </p:sp>
    </p:spTree>
    <p:extLst>
      <p:ext uri="{BB962C8B-B14F-4D97-AF65-F5344CB8AC3E}">
        <p14:creationId xmlns:p14="http://schemas.microsoft.com/office/powerpoint/2010/main" val="1926369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8800B-461E-16B6-88C9-32BD8B8F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9" name="Marcador de contenido 8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0B6968B1-B81A-91C1-2497-C3156CE79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67" y="365125"/>
            <a:ext cx="10092266" cy="5652030"/>
          </a:xfrm>
        </p:spPr>
      </p:pic>
    </p:spTree>
    <p:extLst>
      <p:ext uri="{BB962C8B-B14F-4D97-AF65-F5344CB8AC3E}">
        <p14:creationId xmlns:p14="http://schemas.microsoft.com/office/powerpoint/2010/main" val="491650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D16A8-58EF-C120-CF0E-CE23EF022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Gracias a la combinación de ambos modelos , podemos dictaminar que las variables más importantes a la hora de invertir son:</a:t>
            </a:r>
            <a:b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</a:br>
            <a:b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</a:br>
            <a:r>
              <a:rPr lang="es-ES" sz="2000" b="1" i="1" dirty="0">
                <a:solidFill>
                  <a:schemeClr val="bg1"/>
                </a:solidFill>
                <a:latin typeface="Oswald" pitchFamily="2" charset="0"/>
              </a:rPr>
              <a:t>Clasificación:</a:t>
            </a:r>
          </a:p>
        </p:txBody>
      </p:sp>
      <p:pic>
        <p:nvPicPr>
          <p:cNvPr id="5" name="Marcador de contenido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49AD45E9-C51D-EA07-32BA-A461FB97C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1932"/>
            <a:ext cx="10295021" cy="4120093"/>
          </a:xfrm>
        </p:spPr>
      </p:pic>
    </p:spTree>
    <p:extLst>
      <p:ext uri="{BB962C8B-B14F-4D97-AF65-F5344CB8AC3E}">
        <p14:creationId xmlns:p14="http://schemas.microsoft.com/office/powerpoint/2010/main" val="915881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9147811-30BA-E58F-2A1C-47DC05FAE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05" y="1253331"/>
            <a:ext cx="10246895" cy="4351338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FBC1A52-1257-CE50-B9D3-80986FAED954}"/>
              </a:ext>
            </a:extLst>
          </p:cNvPr>
          <p:cNvSpPr txBox="1"/>
          <p:nvPr/>
        </p:nvSpPr>
        <p:spPr>
          <a:xfrm>
            <a:off x="1295400" y="262466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i="1" dirty="0">
                <a:solidFill>
                  <a:schemeClr val="bg1"/>
                </a:solidFill>
                <a:latin typeface="Oswald" pitchFamily="2" charset="0"/>
              </a:rPr>
              <a:t>Regresión:</a:t>
            </a:r>
          </a:p>
        </p:txBody>
      </p:sp>
    </p:spTree>
    <p:extLst>
      <p:ext uri="{BB962C8B-B14F-4D97-AF65-F5344CB8AC3E}">
        <p14:creationId xmlns:p14="http://schemas.microsoft.com/office/powerpoint/2010/main" val="385928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A084CC2E-C045-E5C4-0F57-877529558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691092"/>
            <a:ext cx="10515600" cy="4351338"/>
          </a:xfrm>
        </p:spPr>
        <p:txBody>
          <a:bodyPr>
            <a:noAutofit/>
          </a:bodyPr>
          <a:lstStyle/>
          <a:p>
            <a:endParaRPr lang="es-ES" sz="1400" b="1" i="1" dirty="0">
              <a:solidFill>
                <a:schemeClr val="bg1"/>
              </a:solidFill>
              <a:latin typeface="Oswald" pitchFamily="2" charset="0"/>
            </a:endParaRPr>
          </a:p>
          <a:p>
            <a:endParaRPr lang="es-ES" sz="1400" b="1" i="1" dirty="0">
              <a:solidFill>
                <a:schemeClr val="bg1"/>
              </a:solidFill>
              <a:latin typeface="Oswald" pitchFamily="2" charset="0"/>
            </a:endParaRPr>
          </a:p>
          <a:p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Exploración de Modelos : CLASIFICACIÓN (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Logistic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Regression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,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Random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Forest,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XGBoost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) y REGRESIÓN (Ridge, Lasso, KNN,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Random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Forest,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XGBoost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). Optimización con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GridSearchCV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en todos los modelos .</a:t>
            </a:r>
          </a:p>
          <a:p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¿Por qué este Ensemble? Mediante validación iterativa, identificamos que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XGBoost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captura mejor patrones complejos (70%), mientras RF aporta robustez ante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outliers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(30%).</a:t>
            </a:r>
          </a:p>
          <a:p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Logros del Proyecto:  Clasificador: 88</a:t>
            </a:r>
            <a:r>
              <a:rPr lang="es-ES" sz="1400" b="1" i="1">
                <a:solidFill>
                  <a:schemeClr val="bg1"/>
                </a:solidFill>
                <a:latin typeface="Oswald" pitchFamily="2" charset="0"/>
              </a:rPr>
              <a:t>% ROC-AUC, 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Regresor: 75% R²</a:t>
            </a:r>
            <a:r>
              <a:rPr lang="es-ES" sz="1400" b="1" i="1">
                <a:solidFill>
                  <a:schemeClr val="bg1"/>
                </a:solidFill>
                <a:latin typeface="Oswald" pitchFamily="2" charset="0"/>
              </a:rPr>
              <a:t>,  Variables 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clave: Budget, Vote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Count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, Vote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Average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.</a:t>
            </a:r>
          </a:p>
          <a:p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Impacto en la Industria: • Reducción de riesgo en decisiones de inversión millonarias Optimización de estrategias de distribución.</a:t>
            </a:r>
          </a:p>
          <a:p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Limitaciones Reconocidas: • Mayor incertidumbre en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blockbusters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extremos (&gt;$1B) y datos desde 2015 (pre y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post-pandemia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).</a:t>
            </a:r>
          </a:p>
          <a:p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Escalabilidad del Proyecto:  Datos JSON complejos (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cast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,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crew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,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keywords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) requieren procesamiento avanzado como Deep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Learning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(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RNNs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, Transformers) para extraer patrones de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metadata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y 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Embeddings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de actores/directores para capturar el poder de atracción de las estrellas de forma continua.</a:t>
            </a:r>
          </a:p>
          <a:p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 Código : github.com/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MiguelJimenez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/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movie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-</a:t>
            </a:r>
            <a:r>
              <a:rPr lang="es-ES" sz="1400" b="1" i="1" dirty="0" err="1">
                <a:solidFill>
                  <a:schemeClr val="bg1"/>
                </a:solidFill>
                <a:latin typeface="Oswald" pitchFamily="2" charset="0"/>
              </a:rPr>
              <a:t>revenue</a:t>
            </a:r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-predictor.</a:t>
            </a:r>
          </a:p>
          <a:p>
            <a:r>
              <a:rPr lang="es-ES" sz="1400" b="1" i="1" dirty="0">
                <a:solidFill>
                  <a:schemeClr val="bg1"/>
                </a:solidFill>
                <a:latin typeface="Oswald" pitchFamily="2" charset="0"/>
              </a:rPr>
              <a:t>Demo: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84028E-8335-DF3A-BA53-980E405CB6A7}"/>
              </a:ext>
            </a:extLst>
          </p:cNvPr>
          <p:cNvSpPr txBox="1"/>
          <p:nvPr/>
        </p:nvSpPr>
        <p:spPr>
          <a:xfrm>
            <a:off x="4360334" y="228600"/>
            <a:ext cx="3840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i="1" dirty="0">
                <a:solidFill>
                  <a:schemeClr val="bg1"/>
                </a:solidFill>
                <a:latin typeface="Oswald" pitchFamily="2" charset="0"/>
              </a:rPr>
              <a:t>Resumen conceptual:</a:t>
            </a:r>
          </a:p>
        </p:txBody>
      </p:sp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63966185-6771-2DFF-FA59-AB31FDBF5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1" y="4349222"/>
            <a:ext cx="5147733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682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674</Words>
  <Application>Microsoft Office PowerPoint</Application>
  <PresentationFormat>Panorámica</PresentationFormat>
  <Paragraphs>41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Oswald</vt:lpstr>
      <vt:lpstr>Tema de Office</vt:lpstr>
      <vt:lpstr> Movie Revenue Predictor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 a la combinación de ambos modelos , podemos dictaminar que las variables más importantes a la hora de invertir son:  Clasificación: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Jimenez</dc:creator>
  <cp:lastModifiedBy>Miguel Jimenez</cp:lastModifiedBy>
  <cp:revision>2</cp:revision>
  <dcterms:created xsi:type="dcterms:W3CDTF">2025-11-24T18:56:31Z</dcterms:created>
  <dcterms:modified xsi:type="dcterms:W3CDTF">2025-11-25T00:54:52Z</dcterms:modified>
</cp:coreProperties>
</file>