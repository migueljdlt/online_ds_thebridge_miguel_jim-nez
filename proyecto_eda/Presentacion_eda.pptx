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9" r:id="rId3"/>
    <p:sldId id="272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4" r:id="rId15"/>
    <p:sldId id="27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88866-E9AF-455A-BCBD-CD3333AC2E68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285C6-690B-4058-9D63-478D97C108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24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4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3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800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41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983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22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688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817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173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20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05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4C5D33D-63F3-4349-B31A-E85E3820F97B}" type="datetimeFigureOut">
              <a:rPr lang="es-ES" smtClean="0"/>
              <a:t>05/11/2025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EEFA4FC-C71F-4295-930D-3FF75C8FEA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858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372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F7D61E-C089-F15E-221B-59ED62E32AF0}"/>
              </a:ext>
            </a:extLst>
          </p:cNvPr>
          <p:cNvSpPr txBox="1"/>
          <p:nvPr/>
        </p:nvSpPr>
        <p:spPr>
          <a:xfrm>
            <a:off x="1049867" y="1159933"/>
            <a:ext cx="5266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4400" b="1">
                <a:latin typeface="Orbitron"/>
              </a:rPr>
              <a:t>ÍNDICE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404A86-2CC6-1CAD-0F26-AFBDACB77BFF}"/>
              </a:ext>
            </a:extLst>
          </p:cNvPr>
          <p:cNvSpPr txBox="1"/>
          <p:nvPr/>
        </p:nvSpPr>
        <p:spPr>
          <a:xfrm>
            <a:off x="3479800" y="2341391"/>
            <a:ext cx="70781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000" dirty="0">
                <a:latin typeface="Orbitron"/>
              </a:rPr>
              <a:t>1. </a:t>
            </a:r>
            <a:r>
              <a:rPr sz="2000" dirty="0" err="1">
                <a:latin typeface="Orbitron"/>
              </a:rPr>
              <a:t>Contexto</a:t>
            </a:r>
            <a:r>
              <a:rPr sz="2000" dirty="0">
                <a:latin typeface="Orbitron"/>
              </a:rPr>
              <a:t> e </a:t>
            </a:r>
            <a:r>
              <a:rPr sz="2000" dirty="0" err="1">
                <a:latin typeface="Orbitron"/>
              </a:rPr>
              <a:t>Hipótesis</a:t>
            </a:r>
            <a:endParaRPr sz="2000" dirty="0">
              <a:latin typeface="Orbitron"/>
            </a:endParaRPr>
          </a:p>
          <a:p>
            <a:pPr marL="0" indent="0">
              <a:buNone/>
            </a:pPr>
            <a:r>
              <a:rPr sz="2000" dirty="0">
                <a:latin typeface="Orbitron"/>
              </a:rPr>
              <a:t>2. </a:t>
            </a:r>
            <a:r>
              <a:rPr sz="2000" dirty="0" err="1">
                <a:latin typeface="Orbitron"/>
              </a:rPr>
              <a:t>Evolución</a:t>
            </a:r>
            <a:r>
              <a:rPr sz="2000" dirty="0">
                <a:latin typeface="Orbitron"/>
              </a:rPr>
              <a:t> del Mercado F2P</a:t>
            </a:r>
          </a:p>
          <a:p>
            <a:pPr marL="0" indent="0">
              <a:buNone/>
            </a:pPr>
            <a:r>
              <a:rPr sz="2000" dirty="0">
                <a:latin typeface="Orbitron"/>
              </a:rPr>
              <a:t>3. </a:t>
            </a:r>
            <a:r>
              <a:rPr sz="2000" dirty="0" err="1">
                <a:latin typeface="Orbitron"/>
              </a:rPr>
              <a:t>Alcance</a:t>
            </a:r>
            <a:r>
              <a:rPr sz="2000" dirty="0">
                <a:latin typeface="Orbitron"/>
              </a:rPr>
              <a:t> y </a:t>
            </a:r>
            <a:r>
              <a:rPr sz="2000" dirty="0" err="1">
                <a:latin typeface="Orbitron"/>
              </a:rPr>
              <a:t>Popularidad</a:t>
            </a:r>
            <a:endParaRPr sz="2000" dirty="0">
              <a:latin typeface="Orbitron"/>
            </a:endParaRPr>
          </a:p>
          <a:p>
            <a:pPr marL="0" indent="0">
              <a:buNone/>
            </a:pPr>
            <a:r>
              <a:rPr sz="2000" dirty="0">
                <a:latin typeface="Orbitron"/>
              </a:rPr>
              <a:t>4. Calidad </a:t>
            </a:r>
            <a:r>
              <a:rPr sz="2000" dirty="0" err="1">
                <a:latin typeface="Orbitron"/>
              </a:rPr>
              <a:t>Percibida</a:t>
            </a:r>
            <a:endParaRPr sz="2000" dirty="0">
              <a:latin typeface="Orbitron"/>
            </a:endParaRPr>
          </a:p>
          <a:p>
            <a:pPr marL="0" indent="0">
              <a:buNone/>
            </a:pPr>
            <a:r>
              <a:rPr sz="2000" dirty="0">
                <a:latin typeface="Orbitron"/>
              </a:rPr>
              <a:t>5. </a:t>
            </a:r>
            <a:r>
              <a:rPr sz="2000" dirty="0" err="1">
                <a:latin typeface="Orbitron"/>
              </a:rPr>
              <a:t>Influencia</a:t>
            </a:r>
            <a:r>
              <a:rPr sz="2000" dirty="0">
                <a:latin typeface="Orbitron"/>
              </a:rPr>
              <a:t> </a:t>
            </a:r>
            <a:r>
              <a:rPr sz="2000" dirty="0" err="1">
                <a:latin typeface="Orbitron"/>
              </a:rPr>
              <a:t>en</a:t>
            </a:r>
            <a:r>
              <a:rPr sz="2000" dirty="0">
                <a:latin typeface="Orbitron"/>
              </a:rPr>
              <a:t> </a:t>
            </a:r>
            <a:r>
              <a:rPr sz="2000" dirty="0" err="1">
                <a:latin typeface="Orbitron"/>
              </a:rPr>
              <a:t>Precios</a:t>
            </a:r>
            <a:endParaRPr sz="2000" dirty="0">
              <a:latin typeface="Orbitron"/>
            </a:endParaRPr>
          </a:p>
          <a:p>
            <a:pPr marL="0" indent="0">
              <a:buNone/>
            </a:pPr>
            <a:r>
              <a:rPr sz="2000" dirty="0">
                <a:latin typeface="Orbitron"/>
              </a:rPr>
              <a:t>6. </a:t>
            </a:r>
            <a:r>
              <a:rPr sz="2000" dirty="0" err="1">
                <a:latin typeface="Orbitron"/>
              </a:rPr>
              <a:t>Retención</a:t>
            </a:r>
            <a:r>
              <a:rPr sz="2000" dirty="0">
                <a:latin typeface="Orbitron"/>
              </a:rPr>
              <a:t> del </a:t>
            </a:r>
            <a:r>
              <a:rPr sz="2000" dirty="0" err="1">
                <a:latin typeface="Orbitron"/>
              </a:rPr>
              <a:t>Consumidor</a:t>
            </a:r>
            <a:endParaRPr sz="2000" dirty="0">
              <a:latin typeface="Orbitron"/>
            </a:endParaRPr>
          </a:p>
          <a:p>
            <a:pPr marL="0" indent="0">
              <a:buNone/>
            </a:pPr>
            <a:r>
              <a:rPr sz="2000" dirty="0">
                <a:latin typeface="Orbitron"/>
              </a:rPr>
              <a:t>7. </a:t>
            </a:r>
            <a:r>
              <a:rPr sz="2000" dirty="0" err="1">
                <a:latin typeface="Orbitron"/>
              </a:rPr>
              <a:t>Conclusiones</a:t>
            </a:r>
            <a:endParaRPr sz="2000" dirty="0">
              <a:latin typeface="Orbitron"/>
            </a:endParaRPr>
          </a:p>
        </p:txBody>
      </p:sp>
      <p:pic>
        <p:nvPicPr>
          <p:cNvPr id="5" name="Imagen 4" descr="Imagen que contiene reloj, objeto, verde">
            <a:extLst>
              <a:ext uri="{FF2B5EF4-FFF2-40B4-BE49-F238E27FC236}">
                <a16:creationId xmlns:a16="http://schemas.microsoft.com/office/drawing/2014/main" id="{94648B4E-972E-0DE9-F388-4DC94E416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67" y="4893058"/>
            <a:ext cx="9619175" cy="1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52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BF7D61E-C089-F15E-221B-59ED62E32AF0}"/>
              </a:ext>
            </a:extLst>
          </p:cNvPr>
          <p:cNvSpPr txBox="1"/>
          <p:nvPr/>
        </p:nvSpPr>
        <p:spPr>
          <a:xfrm>
            <a:off x="1049867" y="1159933"/>
            <a:ext cx="5266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800" b="1">
                <a:latin typeface="Orbitron"/>
              </a:rPr>
              <a:t>1. CONTEXTO E HIPÓTESIS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404A86-2CC6-1CAD-0F26-AFBDACB77BFF}"/>
              </a:ext>
            </a:extLst>
          </p:cNvPr>
          <p:cNvSpPr txBox="1"/>
          <p:nvPr/>
        </p:nvSpPr>
        <p:spPr>
          <a:xfrm>
            <a:off x="2472267" y="2584734"/>
            <a:ext cx="70781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rbitron" pitchFamily="2" charset="0"/>
              </a:rPr>
              <a:t>Este </a:t>
            </a:r>
            <a:r>
              <a:rPr lang="en-US" sz="2400" dirty="0" err="1">
                <a:latin typeface="Orbitron" pitchFamily="2" charset="0"/>
              </a:rPr>
              <a:t>proyecto</a:t>
            </a:r>
            <a:r>
              <a:rPr lang="en-US" sz="2400" dirty="0">
                <a:latin typeface="Orbitron" pitchFamily="2" charset="0"/>
              </a:rPr>
              <a:t> se centra </a:t>
            </a:r>
            <a:r>
              <a:rPr lang="en-US" sz="2400" dirty="0" err="1">
                <a:latin typeface="Orbitron" pitchFamily="2" charset="0"/>
              </a:rPr>
              <a:t>en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el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estudio</a:t>
            </a:r>
            <a:r>
              <a:rPr lang="en-US" sz="2400" dirty="0">
                <a:latin typeface="Orbitron" pitchFamily="2" charset="0"/>
              </a:rPr>
              <a:t> del </a:t>
            </a:r>
            <a:r>
              <a:rPr lang="en-US" sz="2400" dirty="0" err="1">
                <a:latin typeface="Orbitron" pitchFamily="2" charset="0"/>
              </a:rPr>
              <a:t>impacto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que</a:t>
            </a:r>
            <a:r>
              <a:rPr lang="en-US" sz="2400" dirty="0">
                <a:latin typeface="Orbitron" pitchFamily="2" charset="0"/>
              </a:rPr>
              <a:t> ha </a:t>
            </a:r>
            <a:r>
              <a:rPr lang="en-US" sz="2400" dirty="0" err="1">
                <a:latin typeface="Orbitron" pitchFamily="2" charset="0"/>
              </a:rPr>
              <a:t>tenido</a:t>
            </a:r>
            <a:r>
              <a:rPr lang="en-US" sz="2400" dirty="0">
                <a:latin typeface="Orbitron" pitchFamily="2" charset="0"/>
              </a:rPr>
              <a:t> la </a:t>
            </a:r>
            <a:r>
              <a:rPr lang="en-US" sz="2400" dirty="0" err="1">
                <a:latin typeface="Orbitron" pitchFamily="2" charset="0"/>
              </a:rPr>
              <a:t>incursión</a:t>
            </a:r>
            <a:r>
              <a:rPr lang="en-US" sz="2400" dirty="0">
                <a:latin typeface="Orbitron" pitchFamily="2" charset="0"/>
              </a:rPr>
              <a:t> de </a:t>
            </a:r>
            <a:r>
              <a:rPr lang="en-US" sz="2400" dirty="0" err="1">
                <a:latin typeface="Orbitron" pitchFamily="2" charset="0"/>
              </a:rPr>
              <a:t>los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juegos</a:t>
            </a:r>
            <a:r>
              <a:rPr lang="en-US" sz="2400" dirty="0">
                <a:latin typeface="Orbitron" pitchFamily="2" charset="0"/>
              </a:rPr>
              <a:t> Free-to-Play (F2P) </a:t>
            </a:r>
            <a:r>
              <a:rPr lang="en-US" sz="2400" dirty="0" err="1">
                <a:latin typeface="Orbitron" pitchFamily="2" charset="0"/>
              </a:rPr>
              <a:t>en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el</a:t>
            </a:r>
            <a:r>
              <a:rPr lang="en-US" sz="2400" dirty="0">
                <a:latin typeface="Orbitron" pitchFamily="2" charset="0"/>
              </a:rPr>
              <a:t> mercado de </a:t>
            </a:r>
            <a:r>
              <a:rPr lang="en-US" sz="2400" dirty="0" err="1">
                <a:latin typeface="Orbitron" pitchFamily="2" charset="0"/>
              </a:rPr>
              <a:t>los</a:t>
            </a:r>
            <a:r>
              <a:rPr lang="en-US" sz="2400" dirty="0">
                <a:latin typeface="Orbitron" pitchFamily="2" charset="0"/>
              </a:rPr>
              <a:t> </a:t>
            </a:r>
            <a:r>
              <a:rPr lang="en-US" sz="2400" dirty="0" err="1">
                <a:latin typeface="Orbitron" pitchFamily="2" charset="0"/>
              </a:rPr>
              <a:t>videojuegos</a:t>
            </a:r>
            <a:endParaRPr sz="2400" dirty="0">
              <a:latin typeface="Orbitron" pitchFamily="2" charset="0"/>
            </a:endParaRPr>
          </a:p>
        </p:txBody>
      </p:sp>
      <p:pic>
        <p:nvPicPr>
          <p:cNvPr id="5" name="Imagen 4" descr="Imagen que contiene reloj, objeto, verde">
            <a:extLst>
              <a:ext uri="{FF2B5EF4-FFF2-40B4-BE49-F238E27FC236}">
                <a16:creationId xmlns:a16="http://schemas.microsoft.com/office/drawing/2014/main" id="{94648B4E-972E-0DE9-F388-4DC94E416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67" y="4893058"/>
            <a:ext cx="9619175" cy="1896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DC59963-F62A-60A8-1F52-DB1AB39C9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" y="1174457"/>
            <a:ext cx="10837334" cy="463367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0C48363-013C-01E0-D8F9-F00DE8F01BDA}"/>
              </a:ext>
            </a:extLst>
          </p:cNvPr>
          <p:cNvSpPr txBox="1"/>
          <p:nvPr/>
        </p:nvSpPr>
        <p:spPr>
          <a:xfrm>
            <a:off x="1058333" y="374347"/>
            <a:ext cx="980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2. EVOLUCIÓN | El Boom F2P comienza en 2010</a:t>
            </a: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1111A63-E647-989D-A179-E5AC40E66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457"/>
            <a:ext cx="11895667" cy="52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83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88AFD80-0CE4-7648-0ADC-F051933FA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2614" y="1763486"/>
            <a:ext cx="9673473" cy="41944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DB786EA-EA40-2225-CFA1-175D2D7CB0AB}"/>
              </a:ext>
            </a:extLst>
          </p:cNvPr>
          <p:cNvSpPr txBox="1"/>
          <p:nvPr/>
        </p:nvSpPr>
        <p:spPr>
          <a:xfrm>
            <a:off x="930729" y="530706"/>
            <a:ext cx="949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2. EVOLUCIÓN | F2P domina en cantidad: &gt;50% de juegos</a:t>
            </a:r>
          </a:p>
        </p:txBody>
      </p:sp>
    </p:spTree>
    <p:extLst>
      <p:ext uri="{BB962C8B-B14F-4D97-AF65-F5344CB8AC3E}">
        <p14:creationId xmlns:p14="http://schemas.microsoft.com/office/powerpoint/2010/main" val="97727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376785F-FA81-4320-8FA8-4F908DF2C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067" y="1075267"/>
            <a:ext cx="10236200" cy="533399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465DF39-4D5F-05B2-35B4-8862CAC21985}"/>
              </a:ext>
            </a:extLst>
          </p:cNvPr>
          <p:cNvSpPr txBox="1"/>
          <p:nvPr/>
        </p:nvSpPr>
        <p:spPr>
          <a:xfrm>
            <a:off x="872067" y="264068"/>
            <a:ext cx="1125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200" b="1">
                <a:latin typeface="Orbitron"/>
              </a:rPr>
              <a:t>2. EVOLUCIÓN | La Paradoja: Más juegos, menor cuota de mercado</a:t>
            </a:r>
          </a:p>
        </p:txBody>
      </p:sp>
      <p:pic>
        <p:nvPicPr>
          <p:cNvPr id="3" name="Imagen 2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122220F5-EDA1-945E-676F-FF8455CC2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82" y="1075266"/>
            <a:ext cx="11007436" cy="578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3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6C3CFD14-00E3-F6AF-4CFE-40830EA7F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98" y="1295400"/>
            <a:ext cx="9576319" cy="48141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3727399-E8BD-3D7A-E937-33C6BC24395B}"/>
              </a:ext>
            </a:extLst>
          </p:cNvPr>
          <p:cNvSpPr txBox="1"/>
          <p:nvPr/>
        </p:nvSpPr>
        <p:spPr>
          <a:xfrm>
            <a:off x="829733" y="448733"/>
            <a:ext cx="9576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3. ALCANCE | Comparativa de descargas totales</a:t>
            </a:r>
          </a:p>
        </p:txBody>
      </p:sp>
      <p:pic>
        <p:nvPicPr>
          <p:cNvPr id="5" name="Imagen 4" descr="Gráfico, Gráfico de rectángulos">
            <a:extLst>
              <a:ext uri="{FF2B5EF4-FFF2-40B4-BE49-F238E27FC236}">
                <a16:creationId xmlns:a16="http://schemas.microsoft.com/office/drawing/2014/main" id="{CDD259E6-85D0-7C5E-2834-4A0EE6529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1" y="1295400"/>
            <a:ext cx="10872238" cy="528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0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FB6AA3CA-78FA-2A5C-6762-EAEDBB629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1" y="1202267"/>
            <a:ext cx="10872238" cy="48564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1142820-807E-81D4-4611-9B68C6AB31C9}"/>
              </a:ext>
            </a:extLst>
          </p:cNvPr>
          <p:cNvSpPr txBox="1"/>
          <p:nvPr/>
        </p:nvSpPr>
        <p:spPr>
          <a:xfrm>
            <a:off x="745067" y="372533"/>
            <a:ext cx="975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3. ALCANCE | Alcance típico: PAID gana 2.3×</a:t>
            </a:r>
          </a:p>
        </p:txBody>
      </p:sp>
      <p:pic>
        <p:nvPicPr>
          <p:cNvPr id="5" name="Imagen 4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7356E295-B125-5A6E-6FF3-2245475E9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1" y="1126067"/>
            <a:ext cx="10872238" cy="545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1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52D4302-B72F-6FC2-D692-12849218039B}"/>
              </a:ext>
            </a:extLst>
          </p:cNvPr>
          <p:cNvSpPr txBox="1"/>
          <p:nvPr/>
        </p:nvSpPr>
        <p:spPr>
          <a:xfrm>
            <a:off x="863600" y="491067"/>
            <a:ext cx="10117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200" b="1">
                <a:latin typeface="Orbitron"/>
              </a:rPr>
              <a:t>4. CALIDAD | Valoraciones de usuarios: Empate técnico</a:t>
            </a:r>
          </a:p>
        </p:txBody>
      </p:sp>
      <p:pic>
        <p:nvPicPr>
          <p:cNvPr id="4" name="Imagen 3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281EAF59-EC7E-2EEC-1E84-8A702387C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89" y="1439333"/>
            <a:ext cx="10744221" cy="5144353"/>
          </a:xfrm>
          <a:prstGeom prst="rect">
            <a:avLst/>
          </a:prstGeom>
        </p:spPr>
      </p:pic>
      <p:pic>
        <p:nvPicPr>
          <p:cNvPr id="5" name="Imagen 4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9AC1A1E3-DD64-60DB-37D2-99A7647D2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89" y="1219200"/>
            <a:ext cx="10744221" cy="536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4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B505DFD-2B14-0421-D301-36542AA38E60}"/>
              </a:ext>
            </a:extLst>
          </p:cNvPr>
          <p:cNvSpPr txBox="1"/>
          <p:nvPr/>
        </p:nvSpPr>
        <p:spPr>
          <a:xfrm>
            <a:off x="516467" y="400749"/>
            <a:ext cx="1083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4. CALIDAD | PAID consistente vs F2P polarizado</a:t>
            </a:r>
          </a:p>
        </p:txBody>
      </p:sp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585FD63E-F1F1-FF55-9226-0754C5461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599"/>
            <a:ext cx="11954933" cy="533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5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580D3C-333C-9C50-4DAE-48F9780E2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791" y="1591734"/>
            <a:ext cx="10759417" cy="520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BA838E-B415-FC66-471F-BA7B507A17B1}"/>
              </a:ext>
            </a:extLst>
          </p:cNvPr>
          <p:cNvSpPr txBox="1"/>
          <p:nvPr/>
        </p:nvSpPr>
        <p:spPr>
          <a:xfrm>
            <a:off x="203200" y="262467"/>
            <a:ext cx="1165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200" b="1">
                <a:latin typeface="Orbitron"/>
              </a:rPr>
              <a:t>5. PRECIOS | Presión competitiva durante boom F2P</a:t>
            </a:r>
          </a:p>
          <a:p>
            <a:pPr marL="0" indent="0">
              <a:buNone/>
            </a:pPr>
            <a:r>
              <a:rPr sz="1600">
                <a:latin typeface="Orbitron"/>
              </a:rPr>
              <a:t>* Inflación EE.UU + Zona Euro: +53% desde 2006</a:t>
            </a:r>
          </a:p>
          <a:p>
            <a:pPr marL="0" indent="0">
              <a:buNone/>
            </a:pPr>
            <a:r>
              <a:rPr sz="1600">
                <a:latin typeface="Orbitron"/>
              </a:rPr>
              <a:t>* Precio ajustado: $10.69 → Cambio real: +133.8%</a:t>
            </a:r>
          </a:p>
        </p:txBody>
      </p:sp>
      <p:pic>
        <p:nvPicPr>
          <p:cNvPr id="5" name="Imagen 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4E549E6C-D728-C463-1948-12EE5C651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0"/>
            <a:ext cx="12192000" cy="50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9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4A87BD-65D0-6257-7582-3CD253588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717" y="1134533"/>
            <a:ext cx="10953350" cy="572346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AE5ED9-FCC5-6150-2081-8023930056D4}"/>
              </a:ext>
            </a:extLst>
          </p:cNvPr>
          <p:cNvSpPr txBox="1"/>
          <p:nvPr/>
        </p:nvSpPr>
        <p:spPr>
          <a:xfrm>
            <a:off x="586717" y="355600"/>
            <a:ext cx="1095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>
                <a:latin typeface="Orbitron"/>
              </a:rPr>
              <a:t>5. PRECIOS | Rango $15-$20: El punto óptimo</a:t>
            </a: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FE480F4-875E-5E3B-E083-D800D436F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17" y="1024466"/>
            <a:ext cx="11018566" cy="58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7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511606-FEF6-D3CF-6040-9DFA3D042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6733" y="999067"/>
            <a:ext cx="9609667" cy="585893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D5E7D8E-BE16-B903-74A4-FB83BD23B811}"/>
              </a:ext>
            </a:extLst>
          </p:cNvPr>
          <p:cNvSpPr txBox="1"/>
          <p:nvPr/>
        </p:nvSpPr>
        <p:spPr>
          <a:xfrm>
            <a:off x="1058333" y="389467"/>
            <a:ext cx="970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 dirty="0">
                <a:latin typeface="Orbitron"/>
              </a:rPr>
              <a:t>6. RETENCIÓN | La </a:t>
            </a:r>
            <a:r>
              <a:rPr sz="2400" b="1" dirty="0" err="1">
                <a:latin typeface="Orbitron"/>
              </a:rPr>
              <a:t>Paradoja</a:t>
            </a:r>
            <a:r>
              <a:rPr sz="2400" b="1" dirty="0">
                <a:latin typeface="Orbitron"/>
              </a:rPr>
              <a:t> del Engagement</a:t>
            </a:r>
          </a:p>
        </p:txBody>
      </p:sp>
    </p:spTree>
    <p:extLst>
      <p:ext uri="{BB962C8B-B14F-4D97-AF65-F5344CB8AC3E}">
        <p14:creationId xmlns:p14="http://schemas.microsoft.com/office/powerpoint/2010/main" val="191691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1C7FB51-AD32-79F9-A8DD-62411D01D04D}"/>
              </a:ext>
            </a:extLst>
          </p:cNvPr>
          <p:cNvSpPr txBox="1"/>
          <p:nvPr/>
        </p:nvSpPr>
        <p:spPr>
          <a:xfrm>
            <a:off x="1058333" y="389467"/>
            <a:ext cx="970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400" b="1" dirty="0">
                <a:latin typeface="Orbitron"/>
              </a:rPr>
              <a:t>6. RETENCIÓN | La </a:t>
            </a:r>
            <a:r>
              <a:rPr sz="2400" b="1" dirty="0" err="1">
                <a:latin typeface="Orbitron"/>
              </a:rPr>
              <a:t>Paradoja</a:t>
            </a:r>
            <a:r>
              <a:rPr sz="2400" b="1" dirty="0">
                <a:latin typeface="Orbitron"/>
              </a:rPr>
              <a:t> del Engagement</a:t>
            </a:r>
          </a:p>
        </p:txBody>
      </p:sp>
      <p:pic>
        <p:nvPicPr>
          <p:cNvPr id="5" name="Imagen 4" descr="Interfaz de usuario gráfica, Gráfico, Diagrama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8E205FC9-F926-6352-C0AF-8CD66FBF4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265" y="1151466"/>
            <a:ext cx="7727202" cy="552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D5E7D8E-BE16-B903-74A4-FB83BD23B811}"/>
              </a:ext>
            </a:extLst>
          </p:cNvPr>
          <p:cNvSpPr txBox="1"/>
          <p:nvPr/>
        </p:nvSpPr>
        <p:spPr>
          <a:xfrm>
            <a:off x="1058333" y="389467"/>
            <a:ext cx="970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200" b="1" dirty="0">
                <a:latin typeface="Orbitron"/>
              </a:rPr>
              <a:t>6. RETENCIÓN | </a:t>
            </a:r>
            <a:r>
              <a:rPr sz="2200" b="1" dirty="0" err="1">
                <a:latin typeface="Orbitron"/>
              </a:rPr>
              <a:t>Correlación</a:t>
            </a:r>
            <a:r>
              <a:rPr sz="2200" b="1" dirty="0">
                <a:latin typeface="Orbitron"/>
              </a:rPr>
              <a:t> </a:t>
            </a:r>
            <a:r>
              <a:rPr lang="es-ES" sz="2200" b="1" dirty="0">
                <a:latin typeface="Orbitron"/>
              </a:rPr>
              <a:t>retención</a:t>
            </a:r>
            <a:r>
              <a:rPr sz="2200" b="1" dirty="0">
                <a:latin typeface="Orbitron"/>
              </a:rPr>
              <a:t>-</a:t>
            </a:r>
            <a:r>
              <a:rPr sz="2200" b="1" dirty="0" err="1">
                <a:latin typeface="Orbitron"/>
              </a:rPr>
              <a:t>concurrencia</a:t>
            </a:r>
            <a:endParaRPr sz="2200" b="1" dirty="0">
              <a:latin typeface="Orbitron"/>
            </a:endParaRPr>
          </a:p>
        </p:txBody>
      </p: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7B0A7C46-F18A-770C-D248-96EC707D0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17" y="948266"/>
            <a:ext cx="11018566" cy="59097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EF4F35-54F1-547D-EF41-22D6190887ED}"/>
              </a:ext>
            </a:extLst>
          </p:cNvPr>
          <p:cNvSpPr txBox="1"/>
          <p:nvPr/>
        </p:nvSpPr>
        <p:spPr>
          <a:xfrm>
            <a:off x="592666" y="228600"/>
            <a:ext cx="110066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6600" b="1" dirty="0">
                <a:latin typeface="Orbitron"/>
              </a:rPr>
              <a:t>7. CONCLUSIONES</a:t>
            </a:r>
          </a:p>
          <a:p>
            <a:pPr marL="0" indent="0">
              <a:buNone/>
            </a:pPr>
            <a:r>
              <a:rPr sz="1800" dirty="0">
                <a:latin typeface="Orbitron"/>
              </a:rPr>
              <a:t>Los F2P </a:t>
            </a:r>
            <a:r>
              <a:rPr sz="1800" dirty="0" err="1">
                <a:latin typeface="Orbitron"/>
              </a:rPr>
              <a:t>han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democratizado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el</a:t>
            </a:r>
            <a:r>
              <a:rPr sz="1800" dirty="0">
                <a:latin typeface="Orbitron"/>
              </a:rPr>
              <a:t> gaming (58.7% del mercado), </a:t>
            </a:r>
            <a:r>
              <a:rPr sz="1800" dirty="0" err="1">
                <a:latin typeface="Orbitron"/>
              </a:rPr>
              <a:t>pero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generaron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una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dinámica</a:t>
            </a:r>
            <a:r>
              <a:rPr sz="1800" dirty="0">
                <a:latin typeface="Orbitron"/>
              </a:rPr>
              <a:t> </a:t>
            </a:r>
            <a:r>
              <a:rPr lang="es-ES" sz="1800" dirty="0">
                <a:latin typeface="Orbitron"/>
              </a:rPr>
              <a:t>de “superventas”</a:t>
            </a:r>
            <a:r>
              <a:rPr sz="1800" dirty="0">
                <a:latin typeface="Orbitron"/>
              </a:rPr>
              <a:t>. Los PAID </a:t>
            </a:r>
            <a:r>
              <a:rPr sz="1800" dirty="0" err="1">
                <a:latin typeface="Orbitron"/>
              </a:rPr>
              <a:t>mantienen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superioridad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en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métricas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individuales</a:t>
            </a:r>
            <a:r>
              <a:rPr sz="1800" dirty="0">
                <a:latin typeface="Orbitron"/>
              </a:rPr>
              <a:t>: 2.3× </a:t>
            </a:r>
            <a:r>
              <a:rPr sz="1800" dirty="0" err="1">
                <a:latin typeface="Orbitron"/>
              </a:rPr>
              <a:t>más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alcance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típico</a:t>
            </a:r>
            <a:r>
              <a:rPr sz="1800" dirty="0">
                <a:latin typeface="Orbitron"/>
              </a:rPr>
              <a:t>, </a:t>
            </a:r>
            <a:r>
              <a:rPr sz="1800" dirty="0" err="1">
                <a:latin typeface="Orbitron"/>
              </a:rPr>
              <a:t>mejor</a:t>
            </a:r>
            <a:r>
              <a:rPr sz="1800" dirty="0">
                <a:latin typeface="Orbitron"/>
              </a:rPr>
              <a:t> </a:t>
            </a:r>
            <a:r>
              <a:rPr lang="es-ES" sz="1800" dirty="0">
                <a:latin typeface="Orbitron"/>
              </a:rPr>
              <a:t>retención</a:t>
            </a:r>
            <a:r>
              <a:rPr sz="1800" dirty="0">
                <a:latin typeface="Orbitron"/>
              </a:rPr>
              <a:t> y </a:t>
            </a:r>
            <a:r>
              <a:rPr sz="1800" dirty="0" err="1">
                <a:latin typeface="Orbitron"/>
              </a:rPr>
              <a:t>calidad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percibida</a:t>
            </a:r>
            <a:r>
              <a:rPr sz="1800" dirty="0">
                <a:latin typeface="Orbitron"/>
              </a:rPr>
              <a:t>. </a:t>
            </a:r>
            <a:r>
              <a:rPr sz="1800" dirty="0" err="1">
                <a:latin typeface="Orbitron"/>
              </a:rPr>
              <a:t>Tras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el</a:t>
            </a:r>
            <a:r>
              <a:rPr sz="1800" dirty="0">
                <a:latin typeface="Orbitron"/>
              </a:rPr>
              <a:t> boom F2P, </a:t>
            </a:r>
            <a:r>
              <a:rPr sz="1800" dirty="0" err="1">
                <a:latin typeface="Orbitron"/>
              </a:rPr>
              <a:t>los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precios</a:t>
            </a:r>
            <a:r>
              <a:rPr sz="1800" dirty="0">
                <a:latin typeface="Orbitron"/>
              </a:rPr>
              <a:t> PAID se </a:t>
            </a:r>
            <a:r>
              <a:rPr sz="1800" dirty="0" err="1">
                <a:latin typeface="Orbitron"/>
              </a:rPr>
              <a:t>recuperaron</a:t>
            </a:r>
            <a:r>
              <a:rPr sz="1800" dirty="0">
                <a:latin typeface="Orbitron"/>
              </a:rPr>
              <a:t>. La </a:t>
            </a:r>
            <a:r>
              <a:rPr sz="1800" dirty="0" err="1">
                <a:latin typeface="Orbitron"/>
              </a:rPr>
              <a:t>industria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evoluciona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hacia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modelos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diferenciados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que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coexisten</a:t>
            </a:r>
            <a:r>
              <a:rPr sz="1800" dirty="0">
                <a:latin typeface="Orbitron"/>
              </a:rPr>
              <a:t> sin </a:t>
            </a:r>
            <a:r>
              <a:rPr sz="1800" dirty="0" err="1">
                <a:latin typeface="Orbitron"/>
              </a:rPr>
              <a:t>canibalizarse</a:t>
            </a:r>
            <a:r>
              <a:rPr sz="1800" dirty="0">
                <a:latin typeface="Orbitron"/>
              </a:rPr>
              <a:t>: F2P para </a:t>
            </a:r>
            <a:r>
              <a:rPr sz="1800" dirty="0" err="1">
                <a:latin typeface="Orbitron"/>
              </a:rPr>
              <a:t>experiencias</a:t>
            </a:r>
            <a:r>
              <a:rPr sz="1800" dirty="0">
                <a:latin typeface="Orbitron"/>
              </a:rPr>
              <a:t> </a:t>
            </a:r>
            <a:r>
              <a:rPr sz="1800" dirty="0" err="1">
                <a:latin typeface="Orbitron"/>
              </a:rPr>
              <a:t>sostenidas</a:t>
            </a:r>
            <a:r>
              <a:rPr sz="1800" dirty="0">
                <a:latin typeface="Orbitron"/>
              </a:rPr>
              <a:t>, PAID para </a:t>
            </a:r>
            <a:r>
              <a:rPr sz="1800" dirty="0" err="1">
                <a:latin typeface="Orbitron"/>
              </a:rPr>
              <a:t>contenido</a:t>
            </a:r>
            <a:r>
              <a:rPr sz="1800" dirty="0">
                <a:latin typeface="Orbitron"/>
              </a:rPr>
              <a:t> premium </a:t>
            </a:r>
            <a:r>
              <a:rPr lang="es-ES" sz="1800" dirty="0">
                <a:latin typeface="Orbitron"/>
              </a:rPr>
              <a:t>no </a:t>
            </a:r>
            <a:r>
              <a:rPr lang="es-ES" sz="1800">
                <a:latin typeface="Orbitron"/>
              </a:rPr>
              <a:t>tan duradero</a:t>
            </a:r>
          </a:p>
          <a:p>
            <a:pPr marL="0" indent="0">
              <a:buNone/>
            </a:pPr>
            <a:r>
              <a:rPr sz="1800">
                <a:latin typeface="Orbitron"/>
              </a:rPr>
              <a:t>.</a:t>
            </a:r>
            <a:endParaRPr sz="1800" dirty="0">
              <a:latin typeface="Orbitron"/>
            </a:endParaRPr>
          </a:p>
        </p:txBody>
      </p:sp>
      <p:pic>
        <p:nvPicPr>
          <p:cNvPr id="4" name="Imagen 3" descr="Pantalla de video juego&#10;&#10;El contenido generado por IA puede ser incorrecto.">
            <a:extLst>
              <a:ext uri="{FF2B5EF4-FFF2-40B4-BE49-F238E27FC236}">
                <a16:creationId xmlns:a16="http://schemas.microsoft.com/office/drawing/2014/main" id="{E35E4C12-5681-F218-7071-4DB11950B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2" y="4817533"/>
            <a:ext cx="11150601" cy="226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4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828</TotalTime>
  <Words>293</Words>
  <Application>Microsoft Office PowerPoint</Application>
  <PresentationFormat>Panorámica</PresentationFormat>
  <Paragraphs>27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Orbitron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Jimenez</dc:creator>
  <cp:lastModifiedBy>Miguel Jimenez</cp:lastModifiedBy>
  <cp:revision>7</cp:revision>
  <dcterms:created xsi:type="dcterms:W3CDTF">2025-11-02T12:54:02Z</dcterms:created>
  <dcterms:modified xsi:type="dcterms:W3CDTF">2025-11-05T00:40:29Z</dcterms:modified>
</cp:coreProperties>
</file>